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8.xml" ContentType="application/vnd.openxmlformats-officedocument.presentationml.notesSlide+xml"/>
  <Override PartName="/ppt/charts/chart9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</c:v>
                </c:pt>
              </c:strCache>
            </c:strRef>
          </c:tx>
          <c:spPr>
            <a:solidFill>
              <a:srgbClr val="B0413E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Afroparts Ltd</c:v>
                </c:pt>
                <c:pt idx="1">
                  <c:v>Sunsource Ltd</c:v>
                </c:pt>
                <c:pt idx="2">
                  <c:v>Eastconnect Co</c:v>
                </c:pt>
                <c:pt idx="3">
                  <c:v>Globaltrade Ng</c:v>
                </c:pt>
                <c:pt idx="4">
                  <c:v>Nilesupply Egypt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0.75</c:v>
                </c:pt>
                <c:pt idx="1">
                  <c:v>0.69</c:v>
                </c:pt>
                <c:pt idx="2">
                  <c:v>0.67500000000000004</c:v>
                </c:pt>
                <c:pt idx="3">
                  <c:v>0.66</c:v>
                </c:pt>
                <c:pt idx="4">
                  <c:v>0.65900000000000003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23-4FE3-B851-FD62B2BD41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Rate</c:v>
                </c:pt>
              </c:strCache>
            </c:strRef>
          </c:tx>
          <c:spPr>
            <a:solidFill>
              <a:srgbClr val="1F9E8F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Economy</c:v>
                </c:pt>
                <c:pt idx="1">
                  <c:v>Standard</c:v>
                </c:pt>
                <c:pt idx="2">
                  <c:v>Overnight</c:v>
                </c:pt>
                <c:pt idx="3">
                  <c:v>Express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0.34799999999999998</c:v>
                </c:pt>
                <c:pt idx="1">
                  <c:v>0.34100000000000003</c:v>
                </c:pt>
                <c:pt idx="2">
                  <c:v>0.34</c:v>
                </c:pt>
                <c:pt idx="3">
                  <c:v>0.32300000000000001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7A-4889-82C7-21D468D2BC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East Africa</c:v>
                </c:pt>
                <c:pt idx="1">
                  <c:v>Central Africa</c:v>
                </c:pt>
                <c:pt idx="2">
                  <c:v>West Africa</c:v>
                </c:pt>
                <c:pt idx="3">
                  <c:v>North Africa</c:v>
                </c:pt>
                <c:pt idx="4">
                  <c:v>Southern 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160.19999999999999</c:v>
                </c:pt>
                <c:pt idx="1">
                  <c:v>147.1</c:v>
                </c:pt>
                <c:pt idx="2">
                  <c:v>142.19999999999999</c:v>
                </c:pt>
                <c:pt idx="3">
                  <c:v>133.30000000000001</c:v>
                </c:pt>
                <c:pt idx="4">
                  <c:v>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E5-4C2C-9161-3CF1A14E65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solidFill>
              <a:srgbClr val="1F9E8F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Health &amp; Beauty</c:v>
                </c:pt>
                <c:pt idx="1">
                  <c:v>Electronics</c:v>
                </c:pt>
                <c:pt idx="2">
                  <c:v>Food &amp; Bev.</c:v>
                </c:pt>
                <c:pt idx="3">
                  <c:v>Home Appliances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0.28699999999999998</c:v>
                </c:pt>
                <c:pt idx="1">
                  <c:v>0.28599999999999998</c:v>
                </c:pt>
                <c:pt idx="2">
                  <c:v>0.28399999999999997</c:v>
                </c:pt>
                <c:pt idx="3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6F-4B88-BDE1-EC935A8472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Hand Sanitizer</c:v>
                </c:pt>
                <c:pt idx="1">
                  <c:v>Noodles Pack</c:v>
                </c:pt>
                <c:pt idx="2">
                  <c:v>Ladies Dress</c:v>
                </c:pt>
                <c:pt idx="3">
                  <c:v>Microwave Oven</c:v>
                </c:pt>
                <c:pt idx="4">
                  <c:v>Irrigation Pipe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4404</c:v>
                </c:pt>
                <c:pt idx="1">
                  <c:v>3881</c:v>
                </c:pt>
                <c:pt idx="2">
                  <c:v>3754</c:v>
                </c:pt>
                <c:pt idx="3">
                  <c:v>3739</c:v>
                </c:pt>
                <c:pt idx="4">
                  <c:v>3656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F1-4F4A-B960-85D1F8BC01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($M)</c:v>
                </c:pt>
              </c:strCache>
            </c:strRef>
          </c:tx>
          <c:spPr>
            <a:solidFill>
              <a:srgbClr val="3B599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Quickship Co</c:v>
                </c:pt>
                <c:pt idx="1">
                  <c:v>Afroparts Ltd</c:v>
                </c:pt>
                <c:pt idx="2">
                  <c:v>Sahelgoods Sa</c:v>
                </c:pt>
                <c:pt idx="3">
                  <c:v>Globaltrade Ng</c:v>
                </c:pt>
                <c:pt idx="4">
                  <c:v>Indoafrica Imp.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18.27</c:v>
                </c:pt>
                <c:pt idx="1">
                  <c:v>17.690000000000001</c:v>
                </c:pt>
                <c:pt idx="2">
                  <c:v>17.47</c:v>
                </c:pt>
                <c:pt idx="3">
                  <c:v>17.46</c:v>
                </c:pt>
                <c:pt idx="4">
                  <c:v>16.940000000000001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2B-41ED-AA63-9C9E503F60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Stock-to-Demand Ratio</c:v>
                </c:pt>
              </c:strCache>
            </c:strRef>
          </c:tx>
          <c:spPr>
            <a:solidFill>
              <a:srgbClr val="1F9E8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Automotive Parts</c:v>
                </c:pt>
                <c:pt idx="1">
                  <c:v>Sports &amp; Fitness</c:v>
                </c:pt>
                <c:pt idx="2">
                  <c:v>Office Supplies</c:v>
                </c:pt>
                <c:pt idx="3">
                  <c:v>Industrial Equip.</c:v>
                </c:pt>
                <c:pt idx="4">
                  <c:v>Clothing</c:v>
                </c:pt>
                <c:pt idx="5">
                  <c:v>Home Appliances</c:v>
                </c:pt>
                <c:pt idx="6">
                  <c:v>Food &amp; Bev.</c:v>
                </c:pt>
                <c:pt idx="7">
                  <c:v>Electronics</c:v>
                </c:pt>
                <c:pt idx="8">
                  <c:v>Health &amp; Beauty</c:v>
                </c:pt>
                <c:pt idx="9">
                  <c:v>Agriculture Inputs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6.54</c:v>
                </c:pt>
                <c:pt idx="1">
                  <c:v>6.54</c:v>
                </c:pt>
                <c:pt idx="2">
                  <c:v>6.12</c:v>
                </c:pt>
                <c:pt idx="3">
                  <c:v>6.11</c:v>
                </c:pt>
                <c:pt idx="4">
                  <c:v>6.08</c:v>
                </c:pt>
                <c:pt idx="5">
                  <c:v>6.07</c:v>
                </c:pt>
                <c:pt idx="6">
                  <c:v>6.04</c:v>
                </c:pt>
                <c:pt idx="7">
                  <c:v>5.96</c:v>
                </c:pt>
                <c:pt idx="8">
                  <c:v>5.8</c:v>
                </c:pt>
                <c:pt idx="9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82-4088-9812-4B83C7B52A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Damaged Rate</c:v>
                </c:pt>
              </c:strCache>
            </c:strRef>
          </c:tx>
          <c:spPr>
            <a:solidFill>
              <a:srgbClr val="B0413E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Health &amp; Beauty</c:v>
                </c:pt>
                <c:pt idx="1">
                  <c:v>Electronics</c:v>
                </c:pt>
                <c:pt idx="2">
                  <c:v>Home Appliances</c:v>
                </c:pt>
                <c:pt idx="3">
                  <c:v>Clothing</c:v>
                </c:pt>
                <c:pt idx="4">
                  <c:v>Industrial Equip.</c:v>
                </c:pt>
                <c:pt idx="5">
                  <c:v>Sports &amp; Fitness</c:v>
                </c:pt>
                <c:pt idx="6">
                  <c:v>Office Supplies</c:v>
                </c:pt>
                <c:pt idx="7">
                  <c:v>Agriculture Inputs</c:v>
                </c:pt>
                <c:pt idx="8">
                  <c:v>Automotive Parts</c:v>
                </c:pt>
                <c:pt idx="9">
                  <c:v>Food &amp; Bev.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2.6700000000000002E-2</c:v>
                </c:pt>
                <c:pt idx="1">
                  <c:v>2.6100000000000002E-2</c:v>
                </c:pt>
                <c:pt idx="2">
                  <c:v>2.5399999999999999E-2</c:v>
                </c:pt>
                <c:pt idx="3">
                  <c:v>2.52E-2</c:v>
                </c:pt>
                <c:pt idx="4">
                  <c:v>2.5000000000000001E-2</c:v>
                </c:pt>
                <c:pt idx="5">
                  <c:v>2.47E-2</c:v>
                </c:pt>
                <c:pt idx="6">
                  <c:v>2.4299999999999999E-2</c:v>
                </c:pt>
                <c:pt idx="7">
                  <c:v>2.4299999999999999E-2</c:v>
                </c:pt>
                <c:pt idx="8">
                  <c:v>2.3300000000000001E-2</c:v>
                </c:pt>
                <c:pt idx="9">
                  <c:v>2.3E-2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18-4294-B377-B12971F470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 ($M)</c:v>
                </c:pt>
              </c:strCache>
            </c:strRef>
          </c:tx>
          <c:spPr>
            <a:ln w="25400" cap="flat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37.4</c:v>
                </c:pt>
                <c:pt idx="1">
                  <c:v>45.3</c:v>
                </c:pt>
                <c:pt idx="2">
                  <c:v>48.5</c:v>
                </c:pt>
                <c:pt idx="3">
                  <c:v>50.7</c:v>
                </c:pt>
                <c:pt idx="4">
                  <c:v>38.9</c:v>
                </c:pt>
                <c:pt idx="5">
                  <c:v>39.6</c:v>
                </c:pt>
                <c:pt idx="6">
                  <c:v>50.7</c:v>
                </c:pt>
                <c:pt idx="7">
                  <c:v>46.7</c:v>
                </c:pt>
                <c:pt idx="8">
                  <c:v>35.700000000000003</c:v>
                </c:pt>
                <c:pt idx="9">
                  <c:v>41.7</c:v>
                </c:pt>
                <c:pt idx="10">
                  <c:v>44</c:v>
                </c:pt>
                <c:pt idx="11">
                  <c:v>43.7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4A6-436D-A4B4-1E9DA45812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 ($M)</c:v>
                </c:pt>
              </c:strCache>
            </c:strRef>
          </c:tx>
          <c:spPr>
            <a:ln w="25400" cap="flat">
              <a:solidFill>
                <a:srgbClr val="C9A24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A24B"/>
              </a:solidFill>
              <a:ln w="9525" cap="flat">
                <a:solidFill>
                  <a:srgbClr val="C9A24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18.100000000000001</c:v>
                </c:pt>
                <c:pt idx="1">
                  <c:v>14.7</c:v>
                </c:pt>
                <c:pt idx="2">
                  <c:v>18.399999999999999</c:v>
                </c:pt>
                <c:pt idx="3">
                  <c:v>15.4</c:v>
                </c:pt>
                <c:pt idx="4">
                  <c:v>9.3000000000000007</c:v>
                </c:pt>
                <c:pt idx="5">
                  <c:v>10.7</c:v>
                </c:pt>
                <c:pt idx="6">
                  <c:v>14.6</c:v>
                </c:pt>
                <c:pt idx="7">
                  <c:v>12.4</c:v>
                </c:pt>
                <c:pt idx="8">
                  <c:v>10.199999999999999</c:v>
                </c:pt>
                <c:pt idx="9">
                  <c:v>13.9</c:v>
                </c:pt>
                <c:pt idx="10">
                  <c:v>16.2</c:v>
                </c:pt>
                <c:pt idx="11">
                  <c:v>9.6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4A6-436D-A4B4-1E9DA45812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277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2316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GlobalMart</a:t>
            </a: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Supply Chain Analytics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A2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Power BI Practical Assignment.  Data Cleaning, Modeling &amp; Business Insight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8D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Prepared by Okolo Henry Ugochukwu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6B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Analysis Period: Jan 2023 – Dec 2024  |  Data Analytics Assignment, IOTBTECH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Business Problem Overview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Four operational challenges are limiting GlobalMart's performance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BEEED"/>
          </a:solidFill>
          <a:ln w="12700">
            <a:solidFill>
              <a:srgbClr val="FBEE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39112"/>
            <a:ext cx="457200" cy="457200"/>
          </a:xfrm>
          <a:prstGeom prst="ellipse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Inefficient Delivery Performance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Rising customer complaints tied to delayed deliveries and inconsistent supplier reliability.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39112"/>
            <a:ext cx="457200" cy="45720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78040" y="201168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Inventory Imbalance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83680" y="265176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Simultaneous overstocking and shortages driving up holding costs and lost sales.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9F6F4"/>
          </a:solidFill>
          <a:ln w="12700">
            <a:solidFill>
              <a:srgbClr val="E9F6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370832"/>
            <a:ext cx="457200" cy="457200"/>
          </a:xfrm>
          <a:prstGeom prst="ellipse">
            <a:avLst/>
          </a:prstGeom>
          <a:solidFill>
            <a:srgbClr val="1F9E8F"/>
          </a:solidFill>
          <a:ln w="12700">
            <a:solidFill>
              <a:srgbClr val="1F9E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63040" y="434340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Stagnating Profit Margins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8680" y="498348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Revenue is growing but margins are flat , cost and pricing efficiency are in question.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63640" y="41148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AEEF6"/>
          </a:solidFill>
          <a:ln w="12700">
            <a:solidFill>
              <a:srgbClr val="EAEE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370832"/>
            <a:ext cx="457200" cy="457200"/>
          </a:xfrm>
          <a:prstGeom prst="ellipse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78040" y="434340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Limited Data Visibility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83680" y="498348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Static, fragmented reporting is slowing down real-time decision-making.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GlobalMart Ltd. — Supply Chain &amp; Business Performance Analytics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Methodology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Excel → Power BI → Insights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97380" y="22402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9738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599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Excel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Cleaned and standardized the raw export: fixed 33 Region spellings, 20 Shipping Mode variants, mixed date formats, junk placeholder values, and 43 duplicate order lines — all as live, auditable formulas.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F9E8F"/>
          </a:solidFill>
          <a:ln w="12700">
            <a:solidFill>
              <a:srgbClr val="1F9E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37860" y="22402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3786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9E8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344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Power BI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09160" y="379476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Modeled the cleaned table, built DAX measures for delivery, inventory and profitability KPIs, and designed two interactive dashboards: Supply Chain Operations &amp; Business Profitability.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B8863B"/>
          </a:solidFill>
          <a:ln w="12700">
            <a:solidFill>
              <a:srgbClr val="B886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78340" y="22402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7834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863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0392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Insights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49640" y="379476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Translated the dashboards into specific, prioritized recommendations — distinguishing genuine operational problems from data-quality artifacts along the way.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GlobalMart Ltd. — Supply Chain &amp; Business Performance Analytics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Overview &amp; Structure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From raw export to a fully formula-audited dataset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11096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2,090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6791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Raw order-line records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91840" y="1783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911096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9E8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2,047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83280" y="26791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Clean records after processing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911096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26480" y="26791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Duplicate rows flagged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778240" y="1783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1911096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0413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69680" y="26791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Analysis-ready fields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Key cleaning actions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7635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Standardized Region (33 variants → 5), Shipping Mode (20 → 4), Delivery Status (17 → 2) via lookup tables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Converted junk placeholders ('?', 'n.a.', '#ERROR') to true nulls; imputed Total Sales/Cost only where genuinely missing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Parsed three mixed date formats; 62 Order Dates and 73 Ship Dates were unparseable ('January 2023' with no day) and left blank rather than guessed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Flagged 954 rows (46.6%) where Ship Date preceded Order Date — excluded from delivery-time KPIs, retained for revenue KPIs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595360" y="3840480"/>
            <a:ext cx="3017520" cy="2468880"/>
          </a:xfrm>
          <a:prstGeom prst="roundRect">
            <a:avLst>
              <a:gd name="adj" fmla="val 2963"/>
            </a:avLst>
          </a:prstGeom>
          <a:solidFill>
            <a:srgbClr val="FBEEED"/>
          </a:solidFill>
          <a:ln w="12700">
            <a:solidFill>
              <a:srgbClr val="FBEE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40050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413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Quality Flag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778240" y="4389120"/>
            <a:ext cx="26517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Nearly half of all delivery-date records fail basic logic (ship before order). Recommend escalating to IT as a standalone fix before trusting delivery KPIs.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GlobalMart Ltd. — Supply Chain &amp; Business Performance Analytics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Delivery Performance Insights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Reliability is a supplier problem, not a shipping-mode problem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1965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33.8%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4048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On-Time Delivery Rate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71800" y="169164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81965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10.14 days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63240" y="24048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Avg. Shipping Time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394960" y="169164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181965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2.5%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0" y="24048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Damaged Goods Rate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Worst 5 Suppliers by Late-Delivery Rate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2848699418"/>
              </p:ext>
            </p:extLst>
          </p:nvPr>
        </p:nvGraphicFramePr>
        <p:xfrm>
          <a:off x="548640" y="3383280"/>
          <a:ext cx="53949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/>
          <p:nvPr/>
        </p:nvSpPr>
        <p:spPr>
          <a:xfrm>
            <a:off x="6263640" y="3063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On-Time Rate by Shipping Mode (nearly flat)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Chart 1"/>
          <p:cNvGraphicFramePr/>
          <p:nvPr>
            <p:extLst>
              <p:ext uri="{D42A27DB-BD31-4B8C-83A1-F6EECF244321}">
                <p14:modId xmlns:p14="http://schemas.microsoft.com/office/powerpoint/2010/main" val="550514091"/>
              </p:ext>
            </p:extLst>
          </p:nvPr>
        </p:nvGraphicFramePr>
        <p:xfrm>
          <a:off x="6263640" y="3383280"/>
          <a:ext cx="53949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GlobalMart Ltd. — Supply Chain &amp; Business Performance Analytics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Profitability Analysis Insights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Margins are flat by category — the real levers are product, region and supplier mix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82496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$714.19M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0391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Total Revenue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71800" y="155448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682496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9E8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$198.28M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63240" y="20391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Total Profit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394960" y="155448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1682496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27.8%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0" y="20391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Profit Margin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818120" y="155448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1682496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599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09560" y="20391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Total Orders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26974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Revenue by Region ($M)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3785957749"/>
              </p:ext>
            </p:extLst>
          </p:nvPr>
        </p:nvGraphicFramePr>
        <p:xfrm>
          <a:off x="548640" y="2971800"/>
          <a:ext cx="539496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6263640" y="26974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Profit Margin by Category (highest vs lowest)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Chart 1"/>
          <p:cNvGraphicFramePr/>
          <p:nvPr>
            <p:extLst>
              <p:ext uri="{D42A27DB-BD31-4B8C-83A1-F6EECF244321}">
                <p14:modId xmlns:p14="http://schemas.microsoft.com/office/powerpoint/2010/main" val="1165466721"/>
              </p:ext>
            </p:extLst>
          </p:nvPr>
        </p:nvGraphicFramePr>
        <p:xfrm>
          <a:off x="6263640" y="2971800"/>
          <a:ext cx="539496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16"/>
          <p:cNvSpPr/>
          <p:nvPr/>
        </p:nvSpPr>
        <p:spPr>
          <a:xfrm>
            <a:off x="548640" y="455371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Top 5 Products by Profit ($K)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Chart 2"/>
          <p:cNvGraphicFramePr/>
          <p:nvPr>
            <p:extLst>
              <p:ext uri="{D42A27DB-BD31-4B8C-83A1-F6EECF244321}">
                <p14:modId xmlns:p14="http://schemas.microsoft.com/office/powerpoint/2010/main" val="160645623"/>
              </p:ext>
            </p:extLst>
          </p:nvPr>
        </p:nvGraphicFramePr>
        <p:xfrm>
          <a:off x="548640" y="4828032"/>
          <a:ext cx="5394960" cy="132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Text 17"/>
          <p:cNvSpPr/>
          <p:nvPr/>
        </p:nvSpPr>
        <p:spPr>
          <a:xfrm>
            <a:off x="6263640" y="455371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Top 5 Suppliers by Profit Contribution ($M)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Chart 3"/>
          <p:cNvGraphicFramePr/>
          <p:nvPr>
            <p:extLst>
              <p:ext uri="{D42A27DB-BD31-4B8C-83A1-F6EECF244321}">
                <p14:modId xmlns:p14="http://schemas.microsoft.com/office/powerpoint/2010/main" val="3450040838"/>
              </p:ext>
            </p:extLst>
          </p:nvPr>
        </p:nvGraphicFramePr>
        <p:xfrm>
          <a:off x="6263640" y="4828032"/>
          <a:ext cx="5394960" cy="132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4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GlobalMart Ltd. — Supply Chain &amp; Business Performance Analytics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Inventory Optimization Insights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 uniform overstocking pattern, and damage rates that track category, not region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Average Stock Level ÷ Average Order Quantity, by Category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175604660"/>
              </p:ext>
            </p:extLst>
          </p:nvPr>
        </p:nvGraphicFramePr>
        <p:xfrm>
          <a:off x="548640" y="2011680"/>
          <a:ext cx="54406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Damaged Goods Rate, by Category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209256366"/>
              </p:ext>
            </p:extLst>
          </p:nvPr>
        </p:nvGraphicFramePr>
        <p:xfrm>
          <a:off x="6263640" y="2011680"/>
          <a:ext cx="53949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GlobalMart Ltd. — Supply Chain &amp; Business Performance Analytics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7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Business Trends &amp; Patterns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Monthly revenue trend, Jan 2023 – Dec 2024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069463063"/>
              </p:ext>
            </p:extLst>
          </p:nvPr>
        </p:nvGraphicFramePr>
        <p:xfrm>
          <a:off x="548640" y="1737360"/>
          <a:ext cx="110642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321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5596128"/>
            <a:ext cx="10607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2024 shows far fewer recorded orders than 2023 while Average Order Value stays stable — this looks like partial data coverage for 2024 rather than a genuine revenue collapse. A handful of stray 2025-dated rows (4 records, likely data-entry errors) were excluded from this chart. Recommend confirming extract completeness with IT before reporting this trend to leadership as-is.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GlobalMart Ltd. — Supply Chain &amp; Business Performance Analytics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8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Strategic Recommendations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Prioritized actions for leadership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Fix the delivery-date data pipeline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17320" y="2039112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Escalate the 46.6% ship-before-order anomaly, and the 62-73 unparseable dates, to IT/Ops as a standalone data-integrity fix.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24328"/>
            <a:ext cx="502920" cy="50292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17320" y="257860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Renegotiate supplier SLAs, don't just cut them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17320" y="288036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Target the 5 worst late-delivery suppliers, but protect high-profit relationships like Afroparts Ltd (#2 profit contributor) through SLA terms rather than termination.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65576"/>
            <a:ext cx="502920" cy="502920"/>
          </a:xfrm>
          <a:prstGeom prst="ellipse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65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17320" y="341985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Redirect delivery-fix effort away from shipping mode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17320" y="372160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On-time rate is flat across modes (32-35%) — invest in supplier lead-time management and demand forecasting instead.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4215384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306824"/>
            <a:ext cx="502920" cy="502920"/>
          </a:xfrm>
          <a:prstGeom prst="ellipse">
            <a:avLst/>
          </a:prstGeom>
          <a:solidFill>
            <a:srgbClr val="1F9E8F"/>
          </a:solidFill>
          <a:ln w="12700">
            <a:solidFill>
              <a:srgbClr val="1F9E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06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17320" y="426110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Review the company-wide inventory reorder policy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17320" y="4562856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~6x stock-to-demand ratio is uniform across categories — commission a working-capital review of reorder rules.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5056632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148072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148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17320" y="510235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Investigate margin levers outside product mix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417320" y="5404104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Category margins are flat (27-29%) — focus on freight cost, supplier pricing, and damaged-goods write-offs, concentrated in Health &amp; Beauty and Electronics.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GlobalMart Ltd. — Supply Chain &amp; Business Performance Analytics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9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Conclusion &amp; Next Steps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725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E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This analysis turned four vague business concerns into specific, measurable findings — and, more importantly, distinguished real operational problems from data-quality artifacts.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Fix the delivery date-capture defect before rebuilding delivery KPIs on top of 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Pilot supplier SLA renegotiation with the 5 worst-performing, highest-volume suppliers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Commission an inventory working-capital review across all categories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Roll out the two Power BI dashboards (Operations &amp; Profitability) for real-time visibility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Revisit this analysis quarterly as new data confirms whether 2024's gap is a coverage issue or a real decline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A24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Thank you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946</Words>
  <Application>Microsoft Office PowerPoint</Application>
  <PresentationFormat>Widescreen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Henry Okolo</cp:lastModifiedBy>
  <cp:revision>3</cp:revision>
  <dcterms:created xsi:type="dcterms:W3CDTF">2026-07-19T14:20:00Z</dcterms:created>
  <dcterms:modified xsi:type="dcterms:W3CDTF">2026-07-20T14:44:00Z</dcterms:modified>
</cp:coreProperties>
</file>